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Proporción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 (local)</c:v>
                  </c:pt>
                  <c:pt idx="1">
                    <c:v>A (visitante)</c:v>
                  </c:pt>
                  <c:pt idx="2">
                    <c:v>D (empate)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44.3</c:v>
                </c:pt>
                <c:pt idx="1">
                  <c:v>30.9</c:v>
                </c:pt>
                <c:pt idx="2">
                  <c:v>24.8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77777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777777"/>
                    </a:solidFill>
                    <a:latin typeface="Arial"/>
                  </a:rPr>
                  <a:t>Proporción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Eliminadas (&gt;40%)</c:v>
                  </c:pt>
                  <c:pt idx="1">
                    <c:v>Bandera Ausente (20-40%)</c:v>
                  </c:pt>
                  <c:pt idx="2">
                    <c:v>Imputadas KNN (0-20%)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58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cosea\Documents\2026-2\machine\project_1\presentacion\pptx_build\icons\motiva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572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8229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pueden estimar probabilidades 1X2 bien calibradas para un mercado de apuestas de fútbol altamente eficiente?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(P1) — Problema, Dataset y Análisis Exploratorio de Datos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337560"/>
            <a:ext cx="18288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Luis Alva Espinoza  ·  Juan Carlos Ticlia Maqui  ·  Elmer José Villegas Suárez  ·  Joseph Anderson Cose Rojas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Computación — Universidad de Ingeniería y Tecnología (UTEC), Lima, Perú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mercado de apuestas eficiente solo se puede superar con probabilidades calibradas, no con más aciertos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motivatio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Fútbol: pocos goles, azar alto, fuerte efecto de contexto.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empírico: ~55% de acierto en la clase ganadora.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apuestas altamente eficiente — las cuotas ya condensan la información pública.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solo aporta valor con probabilidades bien calibradas.</a:t>
            </a:r>
            <a:endParaRPr lang="en-US" sz="2000" dirty="0"/>
          </a:p>
        </p:txBody>
      </p:sp>
      <p:pic>
        <p:nvPicPr>
          <p:cNvPr id="6" name="Image 1" descr="C:\Users\cosea\Documents\2026-2\machine\project_1\presentacion\pptx_build\photos\motivation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280160"/>
            <a:ext cx="3017520" cy="2286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0" y="1280160"/>
            <a:ext cx="3017520" cy="228600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0" y="36027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Estadio de fútbol — Wikimedia Commons (CC0)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Tammouch, Elouafi &amp; Essadik (2024); Knoll &amp; Stübinger (2020)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objetivo: predecir 1X2 con probabilidades calibradas usando solo datos pre-partido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questio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1005840" y="1234440"/>
            <a:ext cx="7132320" cy="1143000"/>
          </a:xfrm>
          <a:prstGeom prst="roundRect">
            <a:avLst>
              <a:gd name="adj" fmla="val 6400"/>
            </a:avLst>
          </a:prstGeom>
          <a:solidFill>
            <a:srgbClr val="EBF3FA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32588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partido con local H y visitante A, estimar P(FTR = c | x) para c ∈ {H, D, A},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x agrupa forma reciente, calidad de plantilla, localía y cuotas pre-partido.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trabajo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de mercado dominan sobre las features estadísticas individuales.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plantilla aporta señal complementaria, sobre todo al inicio de temporada.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mal calibrado puede acertar más pero perder dinero en el backtest.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tarea es clasificación multiclase probabilística; log loss y Brier score priman sobre accuracy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metric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ML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Multiclase (3 clases), salida probabilística.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primaria: log loss.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Complementarias: accuracy, F1, Brier, reliability diagrams.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→ probabilidad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 = (1/o_c) / Σ_j (1/o_j)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bet si p̂ · o &gt; 1.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edge puede aparecer en local, empate o visitante — no solo en el favorito.</a:t>
            </a:r>
            <a:endParaRPr lang="en-US" sz="1200" dirty="0"/>
          </a:p>
        </p:txBody>
      </p:sp>
      <p:pic>
        <p:nvPicPr>
          <p:cNvPr id="10" name="Image 1" descr="C:\Users\cosea\Documents\2026-2\machine\project_1\presentacion\pptx_build\photos\metrics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246120"/>
            <a:ext cx="3291840" cy="1325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246120"/>
            <a:ext cx="3291840" cy="132588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60857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Dardos — kallerna, Wikimedia Commons (CC BY-SA 3.0)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 dataset propio de 30,182 partidos combinando cuotas de mercado y calidad de plantilla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datase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football-data.co.uk: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CSVs, 9 ligas, 10 temporadas.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(FIFA/FC):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snapshots de ratings, proxy de plantilla.</a:t>
            </a:r>
            <a:endParaRPr lang="en-US" sz="1700" dirty="0"/>
          </a:p>
        </p:txBody>
      </p:sp>
      <p:pic>
        <p:nvPicPr>
          <p:cNvPr id="7" name="Image 1" descr="C:\Users\cosea\Documents\2026-2\machine\project_1\presentacion\pptx_build\photos\dataset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2971800"/>
            <a:ext cx="3931920" cy="1600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2971800"/>
            <a:ext cx="3931920" cy="160020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46085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— Wikimedia Commons (CC0)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consolidado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384048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útiles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(de 222)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Ligas / Temporadas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squad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 tras limpieza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4846320" y="4069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compuesta por partido: (Div, Season, Date, HomeTeam, AwayTeam) — sin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 está levemente desbalanceada (44% local) y se usará como prior, no se rebalanceará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targe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55448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30,182 partidos totales.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 localía: 1.56 vs. 1.25 goles promedio (local vs. visitante).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estructural y leve → se usa como prior informativo.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medias de mercado son la señal predictiva más fuerte antes del partido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odd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1" descr="C:\Users\cosea\Documents\2026-2\machine\project_1\presentacion\assets\eda_cuotas_vs_ft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188720"/>
            <a:ext cx="502920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27939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4279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AvgH baja → más victorias locales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AvgH/AvgD/AvgA equivalen casi al cierre de Pinnacle (acierto del favorito: 53.9% vs. 54.5%).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mutua con FTR ≈ 0.11 en clases H y 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como baseline del mercado (menos ruido al promediar casas).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Fig.: cuotas medias 1X2 según resultado real FTR (EDA propio).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plantilla aporta señal complementaria, con menor magnitud que las cuotas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squa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1" descr="C:\Users\cosea\Documents\2026-2\machine\project_1\presentacion\assets\eda_squad_vs_ft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188720"/>
            <a:ext cx="5029200" cy="3291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diferencia de top11 (local − visitante) → mayor proporción de victorias locales.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menor que el efecto de las cuotas.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útil en jornadas tempranas, cuando la forma reciente es escasa.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Fig.: diferencia de calidad del once titular según FTR (EDA propio).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del mismo mercado son casi colineales (r &gt; 0.9): hay redundancia, no señal nueva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correlation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1" descr="C:\Users\cosea\Documents\2026-2\machine\project_1\presentacion\assets\eda_corr_detal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188720"/>
            <a:ext cx="5029200" cy="3291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confirmada entre casas de apuestas del mismo mercado.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imputación KNN y quedarse con una única referencia (Avg) + banderas de ausencia.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 y tiros correlacionan r ≈ 0.6–0.7; squad correlaciona poco con cuotas → señal complementaria.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Fig.: detalle de la matriz de correlación de Pearson (EDA propio).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limpieza explícita de 156 columnas de cuotas deja el dataset sin valores nulos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cleaning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variables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105/119/120 (100%) → artefactos, eliminadas.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 (87.4%) eliminada; Time (29.7%) → Time_hora.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HTR (39 nulos) reconstruida desde HTHG/HTAG.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duplicados: clave compuesta única por partido.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outliers en goles, tiros y cuotas son partidos reales y se conservan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outlier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" name="Image 1" descr="C:\Users\cosea\Documents\2026-2\machine\project_1\presentacion\assets\eda_boxplot_rep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188720"/>
            <a:ext cx="5029200" cy="3291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IQR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554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 si está fuera de [Q1 − 1.5·IQR, Q3 + 1.5·IQR].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 hasta 10–13, tiros hasta 46 → marcadores reales, no errores.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AvgA hasta 41.22 → partidos muy desequilibrados, informativos.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no se eliminan.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riesgo metodológico es la fuga de información temporal (data leakage)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leakag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Post-partido: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goles, tiros, tarjetas → deben pasar a medias rolling de los últimos N partidos.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agregación usa solo el pasado → split train/test cronológico, nunca aleatorio.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por temporada: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snapshot de ratings no predice una temporada anterior.</a:t>
            </a:r>
            <a:endParaRPr lang="en-US" sz="2000" dirty="0"/>
          </a:p>
        </p:txBody>
      </p:sp>
      <p:pic>
        <p:nvPicPr>
          <p:cNvPr id="6" name="Image 1" descr="C:\Users\cosea\Documents\2026-2\machine\project_1\presentacion\pptx_build\photos\leakage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280160"/>
            <a:ext cx="2926080" cy="2331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280160"/>
            <a:ext cx="2926080" cy="233172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0" y="364845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Relojes de arena — Aaaatu, Wikimedia Commons (CC BY-SA 4.0)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por liga y la exclusión de casas de apuestas también pueden introducir sesgo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bia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cobertura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E0: 3,800 partidos; B1: 2,805.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con menos historia, sub-representadas.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validación por liga y temporada.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cuotas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casas con nulos puede sesgar si la ausencia no es aleatoria.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bandera binaria _Ausente.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sin PII; jugadores seudonimizados.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próximos pasos convierten el EDA en un pipeline temporalmente correcto hacia P2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nextstep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Preprocesamiento: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rolling (5 partidos), split cronológico.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Features: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quality + cuotas de apertura, z-scores.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Selección: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mutual_info_classif vs. sin selección.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Modelos: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logística, Random Forest, XGBoost, MLP, ensemble.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Evaluación: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loss, Brier, calibración, validación por temporada.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Backtest: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bets vs. cuotas de cierre, ROI.</a:t>
            </a:r>
            <a:endParaRPr lang="en-US" sz="1700" dirty="0"/>
          </a:p>
        </p:txBody>
      </p:sp>
      <p:pic>
        <p:nvPicPr>
          <p:cNvPr id="6" name="Image 1" descr="C:\Users\cosea\Documents\2026-2\machine\project_1\presentacion\pptx_build\photos\nextsteps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280160"/>
            <a:ext cx="292608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280160"/>
            <a:ext cx="2926080" cy="292608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0" y="424281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de montaña — Laluttam, Wikimedia Commons (CC BY-SA 4.0)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000" dirty="0"/>
          </a:p>
        </p:txBody>
      </p:sp>
      <p:pic>
        <p:nvPicPr>
          <p:cNvPr id="3" name="Image 0" descr="C:\Users\cosea\Documents\2026-2\machine\project_1\presentacion\pptx_build\icons\conclusio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19456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713232"/>
            <a:ext cx="82296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listo para modelar: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30,182 partidos, 219 columnas útiles, 0 nulos.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Señal dominante: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de mercado; squad quality complementa, no redunda.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Riesgo crítico: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temporal → exige rolling features y split cronológico.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Próximo hito (P2):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features, comparación de modelos, backtest.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github.com/jcarlos-t/MLProject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2500" dirty="0"/>
          </a:p>
        </p:txBody>
      </p:sp>
      <p:pic>
        <p:nvPicPr>
          <p:cNvPr id="3" name="Image 0" descr="C:\Users\cosea\Documents\2026-2\machine\project_1\presentacion\pptx_build\icons\reference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84048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Tammouch, A. Elouafi, I. Essadik, "Betting on Machine Learning: Extracting Patterns from Football's Anarchic Odds," 2024.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Knoll, J. Stübinger, "Machine-Learning-Based Statistical Arbitrage Football Betting," Applied Sciences, vol. 10, no. 19, 2020.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J. Dixon, S. G. Coles, "Modelling Association Football Scores and Inefficiencies in the Football Betting Market," Applied Statistics, vol. 46, no. 2, 1997.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Karlis, I. Ntzoufras, "Analysis of sports data using bivariate Poisson models," The Statistician, vol. 52, no. 3, 2003.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football-data.co.uk, "Football Data Historical Results and Betting Odds," 2025.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"FIFA / EA Sports FC Player Ratings Datasets," 2025.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A — Metodología del backtest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backtest usa un split de 3 etapas y Kelly fraccional para no sobreajustar el umbral</a:t>
            </a:r>
            <a:endParaRPr lang="en-US" sz="2500" dirty="0"/>
          </a:p>
        </p:txBody>
      </p:sp>
      <p:pic>
        <p:nvPicPr>
          <p:cNvPr id="4" name="Image 0" descr="C:\Users\cosea\Documents\2026-2\machine\project_1\presentacion\pptx_build\icons\backtes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9436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210312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valor: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apostar si p_modelo · cuota &gt; 1 + τ (cuotas de cierre).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en 3 etapas: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→ elegir τ en validación → fijar τ y medir ROI en test.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apuesta: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fraccional.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superar a local-siempre, favorito-siempre y azar.</a:t>
            </a:r>
            <a:endParaRPr lang="en-US" sz="1700" dirty="0"/>
          </a:p>
        </p:txBody>
      </p:sp>
      <p:pic>
        <p:nvPicPr>
          <p:cNvPr id="7" name="Image 1" descr="C:\Users\cosea\Documents\2026-2\machine\project_1\presentacion\pptx_build\photos\backtest_photo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103120"/>
            <a:ext cx="2926080" cy="2194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60720" y="2103120"/>
            <a:ext cx="2926080" cy="219456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60720" y="433425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Monedas — Wikimedia Commons (CC0)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 B — Análisis multivariado adicional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7635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PCA de cuotas no muestra clusters separables: el problema tiene margen estrecho entre clases</a:t>
            </a:r>
            <a:endParaRPr lang="en-US" sz="2500" dirty="0"/>
          </a:p>
        </p:txBody>
      </p:sp>
      <p:pic>
        <p:nvPicPr>
          <p:cNvPr id="4" name="Image 0" descr="C:\Users\cosea\Documents\2026-2\machine\project_1\presentacion\pptx_build\icons\pca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94360"/>
            <a:ext cx="384048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8229600" cy="18288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6" name="Image 1" descr="C:\Users\cosea\Documents\2026-2\machine\project_1\presentacion\assets\eda_pc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2011680"/>
            <a:ext cx="5029200" cy="2743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0" y="20116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componentes retienen casi toda la varianza del mercado 1X2 (cuotas casi colineales).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extremo (cuota local muy baja) se concentra en victorias locales.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central: partidos equilibrados y empates.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probabilística del resultado 1X2 en partidos de fútbol mediante ML — Etapa 1</dc:title>
  <dc:subject>PptxGenJS Presentation</dc:subject>
  <dc:creator>José Luis Alva Espinoza, Juan Carlos Ticlia Maqui, Elmer José Villegas Suárez, Joseph Anderson Cose Rojas</dc:creator>
  <cp:lastModifiedBy>José Luis Alva Espinoza, Juan Carlos Ticlia Maqui, Elmer José Villegas Suárez, Joseph Anderson Cose Rojas</cp:lastModifiedBy>
  <cp:revision>1</cp:revision>
  <dcterms:created xsi:type="dcterms:W3CDTF">2026-09-21T02:31:57Z</dcterms:created>
  <dcterms:modified xsi:type="dcterms:W3CDTF">2026-09-21T02:31:57Z</dcterms:modified>
</cp:coreProperties>
</file>